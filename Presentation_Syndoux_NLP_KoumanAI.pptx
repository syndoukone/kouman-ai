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KOUMAN AI — TRADUCTION AUTOMATIQUE / NLP</a:t>
            </a:r>
          </a:p>
          <a:p>
            <a:pPr algn="ctr">
              <a:spcBef>
                <a:spcPts val="1500"/>
              </a:spcBef>
              <a:defRPr sz="3200" b="1">
                <a:solidFill>
                  <a:srgbClr val="F8FAFC"/>
                </a:solidFill>
              </a:defRPr>
            </a:pPr>
            <a:r>
              <a:t>Bilan des Travaux &amp; Réalisations</a:t>
            </a:r>
          </a:p>
          <a:p>
            <a:pPr algn="ctr">
              <a:spcBef>
                <a:spcPts val="1500"/>
              </a:spcBef>
              <a:defRPr sz="1800">
                <a:solidFill>
                  <a:srgbClr val="4ADE80"/>
                </a:solidFill>
              </a:defRPr>
            </a:pPr>
            <a:r>
              <a:t>Responsable du lot : Syndoux  |  Statut : 100% Terminé</a:t>
            </a:r>
          </a:p>
          <a:p>
            <a:pPr algn="ctr">
              <a:spcBef>
                <a:spcPts val="2500"/>
              </a:spcBef>
              <a:defRPr sz="1400">
                <a:solidFill>
                  <a:srgbClr val="94A3B8"/>
                </a:solidFill>
              </a:defRPr>
            </a:pPr>
            <a:r>
              <a:t>Fine-Tuning LoRA (NLLB-200) • Français ↔ Dioula • Évaluation BLEU/chrF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PRÉSENTATION GÉNÉRALE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Contexte &amp; Objectifs de la Mission 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🎯 Le Défi &amp; L'Enjeu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Traiter une langue peu dotée (Low-Resource Language) : le Dioula.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Passer d'une traduction unidirectionnelle à un système bidirectionnel robuste (Français ↔ Dioula).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Garantir une haute précision sur le vocabulaire usuel, les idiomes et les contraintes métier.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Proposer un modèle léger et facilement déployable sur infrastructure locale/cloud.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ADE80"/>
                </a:solidFill>
              </a:defRPr>
            </a:pPr>
            <a:r>
              <a:t>🛠️ Périmètre Réalisé par Syndoux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S1 : Data Engineering, intégration du glossaire &amp; contrôle de fuite.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S2 : Fine-tuning bidirectionnel NLLB-200 via la méthode PEFT / LoRA.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S3 : Benchmark de qualité automatique (SacreBLEU / chrF).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Intégration &amp; Démos : Scripts d'inférence en temps réel &amp; connexion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SPRINT 1 — PRÉPARATION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 Engineering, Consolidation &amp; Anti-Leakage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📊 Corpus Consolidé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Nettoyage approfondi des paires de phrases FR ↔ DYU.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Standardisation des textes et suppression des doublons/bruits.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Limitation de longueur (max 35 mots/phrase) pour cibler les expressions naturelles.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📚 Sur-Pondération Lexicale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Intégration systématique du glossaire lexique Dioula.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Sur-pondération x40 des expressions idiomatiques courantes (`custom_idioms.json`).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Garantie de restitution exacte du vocabulaire clé lors de la génération.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🛡️ Contrôle d'Étanchéité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Création du script de vérification anti-leakage (`check_test_leakage.py`).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Isolation stricte entre les ensembles d'entraînement et de test (split 3%).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Zéro contamination pour une évaluation non biaisée.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SPRINT 2 — FINE-TUNING MODÈLE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Fine-Tuning Bidirectionnel NLLB-200 via LoRA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NLLB-200-1.3B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Modèle de base (Meta 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ADE80"/>
                </a:solidFill>
              </a:defRPr>
            </a:pPr>
            <a:r>
              <a:t>LoRA (r=16, α=32)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Adaptation efficace (PEFT)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Bidirectionnel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Français ↔ Dioula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⚙️ Choix Techniques &amp; Architecture du Script (`finetune_nllb.py`)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• Ciblage LoRA Avancé : </a:t>
            </a:r>
            <a:r>
              <a:rPr sz="1300">
                <a:solidFill>
                  <a:srgbClr val="F8FAFC"/>
                </a:solidFill>
              </a:rPr>
              <a:t>Injection des adaptateurs sur l'ensemble des modules d'attention : q_proj, k_proj, v_proj, out_proj pour maximiser l'apprentissage contextuel.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• Entraînement Optimisé : </a:t>
            </a:r>
            <a:r>
              <a:rPr sz="1300">
                <a:solidFill>
                  <a:srgbClr val="F8FAFC"/>
                </a:solidFill>
              </a:rPr>
              <a:t>Batch size de 2 avec 16 étapes d'accumulation de gradients (Batch effectif = 32). Compatible GPU et puces Apple Silicon (MPS).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• Gestion des Codes Langues : </a:t>
            </a:r>
            <a:r>
              <a:rPr sz="1300">
                <a:solidFill>
                  <a:srgbClr val="F8FAFC"/>
                </a:solidFill>
              </a:rPr>
              <a:t>Mapping dynamique `fra_Latn` ↔ `dyu_Latn` lors de la tokenisation avec le tokenizer NLLB.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• Sauvegarde Adaptateurs : </a:t>
            </a:r>
            <a:r>
              <a:rPr sz="1300">
                <a:solidFill>
                  <a:srgbClr val="F8FAFC"/>
                </a:solidFill>
              </a:rPr>
              <a:t>Extraction et sauvegarde des poids légers LoRA (`nllb_lora_dioula/final`), facilitant la portabilité et le déploiement rapide.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SPRINT 3 — ÉVALUATION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Mesure des Performances &amp; Benchmarking (SacreBLEU / chrF)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📐 Protocole d'Évaluation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Mise en place du script d'évaluation de référence (`generate_test_sacre.py`).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Standardisation avec la librairie `sacrebleu` (référence internationale NLP).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Double métrique : BLEU (précision des mots) &amp; chrF (précision au niveau des caractères).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Évaluation continue à chaque epoch avec `load_best_model_at_end=True`.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ADE80"/>
                </a:solidFill>
              </a:defRPr>
            </a:pPr>
            <a:r>
              <a:t>📈 Résultats &amp; Retombées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Gains significatifs sur la traduction des idiomes et expressions courantes Dioula.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Suppression des hallucinations typiques des modèles non ajustés sur les langues africaines.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Reproductibilité garantie des résultats sur les jeux d'évaluation indépendants.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Modèle validé prêt pour l'intégration en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INTÉGRATION &amp; DÉMONSTRATIONS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Inférence en Temps Réel &amp; Intégration Système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💻 Scripts d'Inférence &amp; Démo (`demo_traduction.py` / `test_dyu2fra.py`)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Développement de scripts de démo interactifs permettant la saisie directe de texte et l'obtention instantanée de la traduction.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Support complet du basculement automatique de sens : Français ➔ Dioula et Dioula ➔ Français.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Chargement rapide des adaptateurs LoRA sans surcharge système.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🌐 Intégration à l'API Global Kouman AI (`research_service.py`)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Connexion du moteur de traduction aux modules amont et aval de la plateforme (STT / Reconnaissance Vocale).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Formatage des endpoints API pour exposer la traduction comme un service autonome et performant.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Documentation du code et structuration des modules (`api/__init__.py`).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SYNTHÈSE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Bilan du Travail Réalisé par Syndoux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849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200" b="1">
                <a:solidFill>
                  <a:srgbClr val="4ADE80"/>
                </a:solidFill>
              </a:defRPr>
            </a:pPr>
            <a:r>
              <a:t>✅ Statut Final : 100% Réalisé — Livrable Conforme &amp; Fonctionnel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38BDF8"/>
                </a:solidFill>
              </a:rPr>
              <a:t>• Maîtrise du Fine-Tuning LoRA : </a:t>
            </a:r>
            <a:r>
              <a:rPr sz="1400">
                <a:solidFill>
                  <a:srgbClr val="F8FAFC"/>
                </a:solidFill>
              </a:rPr>
              <a:t>Adaptation réussie du modèle NLLB-200 1.3B aux spécificités de la langue Dioula.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38BDF8"/>
                </a:solidFill>
              </a:rPr>
              <a:t>• Qualité des Données &amp; Évaluation : </a:t>
            </a:r>
            <a:r>
              <a:rPr sz="1400">
                <a:solidFill>
                  <a:srgbClr val="F8FAFC"/>
                </a:solidFill>
              </a:rPr>
              <a:t>Mise en place d'un pipeline rigoureux (sur-pondération, anti-leakage, benchmarks SacreBLEU/chrF).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38BDF8"/>
                </a:solidFill>
              </a:rPr>
              <a:t>• Solution Bidirectionnelle : </a:t>
            </a:r>
            <a:r>
              <a:rPr sz="1400">
                <a:solidFill>
                  <a:srgbClr val="F8FAFC"/>
                </a:solidFill>
              </a:rPr>
              <a:t>Traduction efficace dans les deux sens (Français ↔ Dioula).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38BDF8"/>
                </a:solidFill>
              </a:rPr>
              <a:t>• Livraison &amp; Intégration : </a:t>
            </a:r>
            <a:r>
              <a:rPr sz="1400">
                <a:solidFill>
                  <a:srgbClr val="F8FAFC"/>
                </a:solidFill>
              </a:rPr>
              <a:t>Code propre, modularisé, démos prêtes à l'emploi et intégration API finalisée.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